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Londrina Solid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iirLg9LdZmqNJ6AFWLQGvpAdZ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ondrinaSoli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eb9fe1cb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eb9fe1cb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eb9fe1cb9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aeb9fe1cb9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eb9fe1cb9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eb9fe1cb9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b9fe1cb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aeb9fe1cb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b9fe1cb9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eb9fe1cb9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eb9fe1cb9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aeb9fe1cb9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b9fe1cb9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aeb9fe1cb9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eb9fe1cb9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aeb9fe1cb9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eb9fe1cb9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aeb9fe1cb9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eb9fe1cb9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aeb9fe1cb9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eb9fe1cb9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aeb9fe1cb9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eb9fe1cb9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eb9fe1cb9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b9fe1cb9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aeb9fe1cb9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eb9fe1cb9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aeb9fe1cb9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eb9fe1cb9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aeb9fe1cb9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eb9fe1cb9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aeb9fe1cb9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eb9fe1cb9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aeb9fe1cb9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b9fe1cb9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aeb9fe1cb9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17c2d3163_1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917c2d3163_1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eb9fe1cb9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aeb9fe1cb9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ed054f9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aed054f9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eb9fe1cb9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aeb9fe1cb9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" name="Google Shape;18;p19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3FB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b9fe1cb9_0_3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g3aeb9fe1cb9_0_334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b9fe1cb9_0_3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g3aeb9fe1cb9_0_355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FDF1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477DF6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b9fe1cb9_0_3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g3aeb9fe1cb9_0_346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3FB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b9fe1cb9_0_3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aeb9fe1cb9_0_340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041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3FB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b9fe1cb9_0_3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aeb9fe1cb9_0_337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81AB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b9fe1cb9_0_3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g3aeb9fe1cb9_0_349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eb9fe1cb9_0_3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g3aeb9fe1cb9_0_352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bg>
      <p:bgPr>
        <a:solidFill>
          <a:srgbClr val="04152D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b9fe1cb9_0_3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g3aeb9fe1cb9_0_343"/>
          <p:cNvSpPr/>
          <p:nvPr/>
        </p:nvSpPr>
        <p:spPr>
          <a:xfrm>
            <a:off x="240150" y="198150"/>
            <a:ext cx="8663700" cy="4747200"/>
          </a:xfrm>
          <a:prstGeom prst="roundRect">
            <a:avLst>
              <a:gd fmla="val 10035" name="adj"/>
            </a:avLst>
          </a:prstGeom>
          <a:solidFill>
            <a:srgbClr val="E7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b9fe1cb9_0_35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g3aeb9fe1cb9_0_3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b9fe1cb9_0_3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eb9fe1cb9_0_3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g3aeb9fe1cb9_0_3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g3aeb9fe1cb9_0_3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g3aeb9fe1cb9_0_3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b9fe1cb9_0_36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9" name="Google Shape;119;g3aeb9fe1cb9_0_3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b9fe1cb9_0_37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g3aeb9fe1cb9_0_3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g3aeb9fe1cb9_0_3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eb9fe1cb9_0_3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b9fe1cb9_0_3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aeb9fe1cb9_0_3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aeb9fe1cb9_0_3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gif"/><Relationship Id="rId4" Type="http://schemas.openxmlformats.org/officeDocument/2006/relationships/hyperlink" Target="https://www.netinfluencer.com/youtube-captures-78-percent-of-gen-alpha-viewers-research-shows/?utm_source=chatgpt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aeb9fe1cb9_0_324" title="cheerleading-lil-pudgy-cute-jump-objxsce9pvlmsbxg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4075" y="1419000"/>
            <a:ext cx="2305500" cy="230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1" name="Google Shape;131;g3aeb9fe1cb9_0_324"/>
          <p:cNvSpPr txBox="1"/>
          <p:nvPr/>
        </p:nvSpPr>
        <p:spPr>
          <a:xfrm>
            <a:off x="705550" y="1451775"/>
            <a:ext cx="646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Lil Pudgys Social </a:t>
            </a:r>
            <a:br>
              <a:rPr b="1" i="0" lang="en-US" sz="60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</a:br>
            <a:r>
              <a:rPr b="1" i="0" lang="en-US" sz="60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Growth Proposal</a:t>
            </a:r>
            <a:endParaRPr b="1" i="0" sz="60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32" name="Google Shape;132;g3aeb9fe1cb9_0_324"/>
          <p:cNvSpPr txBox="1"/>
          <p:nvPr/>
        </p:nvSpPr>
        <p:spPr>
          <a:xfrm>
            <a:off x="794075" y="3152325"/>
            <a:ext cx="44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 Toto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77DF6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aeb9fe1cb9_0_861" title="myli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00" y="719700"/>
            <a:ext cx="3704100" cy="370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8" name="Google Shape;138;g3aeb9fe1cb9_0_861"/>
          <p:cNvSpPr txBox="1"/>
          <p:nvPr/>
        </p:nvSpPr>
        <p:spPr>
          <a:xfrm>
            <a:off x="705400" y="1224175"/>
            <a:ext cx="35655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Who am I?</a:t>
            </a:r>
            <a:endParaRPr b="1" i="0" sz="29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39" name="Google Shape;139;g3aeb9fe1cb9_0_861"/>
          <p:cNvSpPr txBox="1"/>
          <p:nvPr/>
        </p:nvSpPr>
        <p:spPr>
          <a:xfrm>
            <a:off x="4601200" y="1224175"/>
            <a:ext cx="3917400" cy="30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roduct-focused engineer, passionate about building experiences that make an impact. I bring ideas to life : translating concepts into products &amp; brands people actually enjoy.</a:t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💡 I blend software craftsmanship with strategic product thinking &amp; marketing, ensuring technical solutions align with business goals and user needs.</a:t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77DF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b9fe1cb9_0_1295"/>
          <p:cNvSpPr/>
          <p:nvPr/>
        </p:nvSpPr>
        <p:spPr>
          <a:xfrm>
            <a:off x="2409000" y="3333725"/>
            <a:ext cx="6033000" cy="8658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aeb9fe1cb9_0_1295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Why I Care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46" name="Google Shape;146;g3aeb9fe1cb9_0_1295"/>
          <p:cNvSpPr/>
          <p:nvPr/>
        </p:nvSpPr>
        <p:spPr>
          <a:xfrm>
            <a:off x="795900" y="1444125"/>
            <a:ext cx="6125100" cy="86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77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aeb9fe1cb9_0_1295"/>
          <p:cNvSpPr txBox="1"/>
          <p:nvPr/>
        </p:nvSpPr>
        <p:spPr>
          <a:xfrm>
            <a:off x="1611600" y="1653825"/>
            <a:ext cx="5031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I’m deeply invested in Lil Pudgys’ long-term success.</a:t>
            </a:r>
            <a:endParaRPr b="0" i="0" sz="1800" u="none" cap="none" strike="noStrike">
              <a:solidFill>
                <a:srgbClr val="307A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aeb9fe1cb9_0_1295"/>
          <p:cNvSpPr/>
          <p:nvPr/>
        </p:nvSpPr>
        <p:spPr>
          <a:xfrm>
            <a:off x="1525625" y="2388925"/>
            <a:ext cx="6317100" cy="86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477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b9fe1cb9_0_1295"/>
          <p:cNvSpPr txBox="1"/>
          <p:nvPr/>
        </p:nvSpPr>
        <p:spPr>
          <a:xfrm>
            <a:off x="2395050" y="2598625"/>
            <a:ext cx="544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Experience scaling channels from 0 → 6K and 5M+ views.</a:t>
            </a:r>
            <a:endParaRPr b="0" i="0" sz="18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aeb9fe1cb9_0_1295"/>
          <p:cNvSpPr txBox="1"/>
          <p:nvPr/>
        </p:nvSpPr>
        <p:spPr>
          <a:xfrm>
            <a:off x="866075" y="1561575"/>
            <a:ext cx="584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1" name="Google Shape;151;g3aeb9fe1cb9_0_1295"/>
          <p:cNvSpPr txBox="1"/>
          <p:nvPr/>
        </p:nvSpPr>
        <p:spPr>
          <a:xfrm>
            <a:off x="1648350" y="2479375"/>
            <a:ext cx="7467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2" name="Google Shape;152;g3aeb9fe1cb9_0_1295"/>
          <p:cNvSpPr txBox="1"/>
          <p:nvPr/>
        </p:nvSpPr>
        <p:spPr>
          <a:xfrm>
            <a:off x="2539425" y="3451175"/>
            <a:ext cx="7467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DF1E5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FDF1E5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3" name="Google Shape;153;g3aeb9fe1cb9_0_1295"/>
          <p:cNvSpPr txBox="1"/>
          <p:nvPr/>
        </p:nvSpPr>
        <p:spPr>
          <a:xfrm>
            <a:off x="3224650" y="3412625"/>
            <a:ext cx="4863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DF1E5"/>
                </a:solidFill>
                <a:latin typeface="Calibri"/>
                <a:ea typeface="Calibri"/>
                <a:cs typeface="Calibri"/>
                <a:sym typeface="Calibri"/>
              </a:rPr>
              <a:t>I believe Lil Pudgys can thrive in web2, generating metrics that boost web3 storytelling and marketing.</a:t>
            </a:r>
            <a:endParaRPr b="0" i="0" sz="18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aeb9fe1cb9_0_1295" title="5b19f189cfa2c591b3a46c0f6611837a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2300" y="509350"/>
            <a:ext cx="1259700" cy="125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b9fe1cb9_0_383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Executive Summary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60" name="Google Shape;160;g3aeb9fe1cb9_0_383"/>
          <p:cNvSpPr/>
          <p:nvPr/>
        </p:nvSpPr>
        <p:spPr>
          <a:xfrm>
            <a:off x="646725" y="1369025"/>
            <a:ext cx="3800400" cy="13227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aeb9fe1cb9_0_383"/>
          <p:cNvSpPr txBox="1"/>
          <p:nvPr/>
        </p:nvSpPr>
        <p:spPr>
          <a:xfrm>
            <a:off x="878625" y="1514650"/>
            <a:ext cx="331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Lil Pudgys has strong creative foundations but low platform traction.</a:t>
            </a:r>
            <a:endParaRPr b="1" i="0" sz="1900" u="none" cap="none" strike="noStrike">
              <a:solidFill>
                <a:srgbClr val="F3FB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aeb9fe1cb9_0_383"/>
          <p:cNvSpPr/>
          <p:nvPr/>
        </p:nvSpPr>
        <p:spPr>
          <a:xfrm>
            <a:off x="646725" y="2806150"/>
            <a:ext cx="3800400" cy="13227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aeb9fe1cb9_0_383"/>
          <p:cNvSpPr txBox="1"/>
          <p:nvPr/>
        </p:nvSpPr>
        <p:spPr>
          <a:xfrm>
            <a:off x="747225" y="2898575"/>
            <a:ext cx="356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Main issues: unclear audience, weak discoverability, misaligned formats.</a:t>
            </a:r>
            <a:endParaRPr b="1" i="0" sz="1900" u="none" cap="none" strike="noStrike">
              <a:solidFill>
                <a:srgbClr val="F3FB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aeb9fe1cb9_0_383"/>
          <p:cNvSpPr/>
          <p:nvPr/>
        </p:nvSpPr>
        <p:spPr>
          <a:xfrm>
            <a:off x="4576228" y="1369025"/>
            <a:ext cx="3800400" cy="2759700"/>
          </a:xfrm>
          <a:prstGeom prst="roundRect">
            <a:avLst>
              <a:gd fmla="val 9918" name="adj"/>
            </a:avLst>
          </a:prstGeom>
          <a:solidFill>
            <a:srgbClr val="0415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aeb9fe1cb9_0_383"/>
          <p:cNvSpPr txBox="1"/>
          <p:nvPr/>
        </p:nvSpPr>
        <p:spPr>
          <a:xfrm>
            <a:off x="4842850" y="1583525"/>
            <a:ext cx="337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Goal: Build a scalable growth engine for YouTube + TikTok.</a:t>
            </a:r>
            <a:endParaRPr b="1" i="0" sz="1900" u="none" cap="none" strike="noStrike">
              <a:solidFill>
                <a:srgbClr val="F3FB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3aeb9fe1cb9_0_383" title="images cop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5785" y="2407548"/>
            <a:ext cx="1721275" cy="17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b9fe1cb9_0_440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Goal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72" name="Google Shape;172;g3aeb9fe1cb9_0_440"/>
          <p:cNvSpPr/>
          <p:nvPr/>
        </p:nvSpPr>
        <p:spPr>
          <a:xfrm>
            <a:off x="64672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aeb9fe1cb9_0_440"/>
          <p:cNvSpPr txBox="1"/>
          <p:nvPr/>
        </p:nvSpPr>
        <p:spPr>
          <a:xfrm>
            <a:off x="758000" y="2313887"/>
            <a:ext cx="225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Grow channel visibility and algorithm alignment</a:t>
            </a:r>
            <a:endParaRPr b="1" i="0" sz="1600" u="none" cap="none" strike="noStrike">
              <a:solidFill>
                <a:srgbClr val="F3FB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aeb9fe1cb9_0_440"/>
          <p:cNvSpPr/>
          <p:nvPr/>
        </p:nvSpPr>
        <p:spPr>
          <a:xfrm>
            <a:off x="3309750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aeb9fe1cb9_0_440"/>
          <p:cNvSpPr/>
          <p:nvPr/>
        </p:nvSpPr>
        <p:spPr>
          <a:xfrm>
            <a:off x="597277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aeb9fe1cb9_0_440"/>
          <p:cNvSpPr txBox="1"/>
          <p:nvPr/>
        </p:nvSpPr>
        <p:spPr>
          <a:xfrm>
            <a:off x="813825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77" name="Google Shape;177;g3aeb9fe1cb9_0_440"/>
          <p:cNvSpPr txBox="1"/>
          <p:nvPr/>
        </p:nvSpPr>
        <p:spPr>
          <a:xfrm>
            <a:off x="348225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78" name="Google Shape;178;g3aeb9fe1cb9_0_440"/>
          <p:cNvSpPr txBox="1"/>
          <p:nvPr/>
        </p:nvSpPr>
        <p:spPr>
          <a:xfrm>
            <a:off x="612760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79" name="Google Shape;179;g3aeb9fe1cb9_0_440"/>
          <p:cNvSpPr txBox="1"/>
          <p:nvPr/>
        </p:nvSpPr>
        <p:spPr>
          <a:xfrm>
            <a:off x="3482250" y="2313887"/>
            <a:ext cx="225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Establish Lil Pudgys </a:t>
            </a:r>
            <a:b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as a recognizable animated brand</a:t>
            </a:r>
            <a:endParaRPr b="1" i="0" sz="1700" u="none" cap="none" strike="noStrike">
              <a:solidFill>
                <a:srgbClr val="F3FB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aeb9fe1cb9_0_440"/>
          <p:cNvSpPr txBox="1"/>
          <p:nvPr/>
        </p:nvSpPr>
        <p:spPr>
          <a:xfrm>
            <a:off x="6160100" y="2313887"/>
            <a:ext cx="22584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Increase engagement, retention, and audience clarity</a:t>
            </a:r>
            <a:endParaRPr b="1" i="0" sz="1700" u="none" cap="none" strike="noStrike">
              <a:solidFill>
                <a:srgbClr val="F3FB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aeb9fe1cb9_0_499" title="Lil_Pudgys_Teaser_Image-1 copy.jpg"/>
          <p:cNvPicPr preferRelativeResize="0"/>
          <p:nvPr/>
        </p:nvPicPr>
        <p:blipFill rotWithShape="1">
          <a:blip r:embed="rId3">
            <a:alphaModFix/>
          </a:blip>
          <a:srcRect b="4588" l="900" r="1223" t="7172"/>
          <a:stretch/>
        </p:blipFill>
        <p:spPr>
          <a:xfrm>
            <a:off x="239775" y="193350"/>
            <a:ext cx="8655000" cy="4756800"/>
          </a:xfrm>
          <a:prstGeom prst="roundRect">
            <a:avLst>
              <a:gd fmla="val 10406" name="adj"/>
            </a:avLst>
          </a:prstGeom>
          <a:noFill/>
          <a:ln>
            <a:noFill/>
          </a:ln>
        </p:spPr>
      </p:pic>
      <p:sp>
        <p:nvSpPr>
          <p:cNvPr id="186" name="Google Shape;186;g3aeb9fe1cb9_0_499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What’s Working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87" name="Google Shape;187;g3aeb9fe1cb9_0_499"/>
          <p:cNvSpPr/>
          <p:nvPr/>
        </p:nvSpPr>
        <p:spPr>
          <a:xfrm>
            <a:off x="657450" y="2298675"/>
            <a:ext cx="1585500" cy="14772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eb9fe1cb9_0_499"/>
          <p:cNvSpPr txBox="1"/>
          <p:nvPr/>
        </p:nvSpPr>
        <p:spPr>
          <a:xfrm>
            <a:off x="813825" y="2630925"/>
            <a:ext cx="1336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DF1E5"/>
                </a:solidFill>
                <a:latin typeface="Calibri"/>
                <a:ea typeface="Calibri"/>
                <a:cs typeface="Calibri"/>
                <a:sym typeface="Calibri"/>
              </a:rPr>
              <a:t>High-quality, appealing animation.</a:t>
            </a:r>
            <a:endParaRPr b="1" i="0" sz="1700" u="none" cap="none" strike="noStrike">
              <a:solidFill>
                <a:srgbClr val="FDF1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aeb9fe1cb9_0_499"/>
          <p:cNvSpPr/>
          <p:nvPr/>
        </p:nvSpPr>
        <p:spPr>
          <a:xfrm>
            <a:off x="6881500" y="976225"/>
            <a:ext cx="1585500" cy="1477200"/>
          </a:xfrm>
          <a:prstGeom prst="roundRect">
            <a:avLst>
              <a:gd fmla="val 16667" name="adj"/>
            </a:avLst>
          </a:prstGeom>
          <a:solidFill>
            <a:srgbClr val="477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aeb9fe1cb9_0_499"/>
          <p:cNvSpPr txBox="1"/>
          <p:nvPr/>
        </p:nvSpPr>
        <p:spPr>
          <a:xfrm>
            <a:off x="6999775" y="1203775"/>
            <a:ext cx="16629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DF1E5"/>
                </a:solidFill>
                <a:latin typeface="Calibri"/>
                <a:ea typeface="Calibri"/>
                <a:cs typeface="Calibri"/>
                <a:sym typeface="Calibri"/>
              </a:rPr>
              <a:t>Strong visual identity and character charm.</a:t>
            </a:r>
            <a:endParaRPr b="1" i="0" sz="1700" u="none" cap="none" strike="noStrike">
              <a:solidFill>
                <a:srgbClr val="FDF1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b9fe1cb9_0_554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E7F5F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Core Problem</a:t>
            </a:r>
            <a:endParaRPr b="1" i="0" sz="5800" u="none" cap="none" strike="noStrike">
              <a:solidFill>
                <a:srgbClr val="E7F5F9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96" name="Google Shape;196;g3aeb9fe1cb9_0_554"/>
          <p:cNvSpPr/>
          <p:nvPr/>
        </p:nvSpPr>
        <p:spPr>
          <a:xfrm>
            <a:off x="696125" y="1469575"/>
            <a:ext cx="7757700" cy="959100"/>
          </a:xfrm>
          <a:prstGeom prst="roundRect">
            <a:avLst>
              <a:gd fmla="val 16667" name="adj"/>
            </a:avLst>
          </a:prstGeom>
          <a:solidFill>
            <a:srgbClr val="E7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Algorithm cannot determine a target audience</a:t>
            </a:r>
            <a:endParaRPr b="0" i="0" sz="1400" u="none" cap="none" strike="noStrike">
              <a:solidFill>
                <a:srgbClr val="000000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97" name="Google Shape;197;g3aeb9fe1cb9_0_554"/>
          <p:cNvSpPr/>
          <p:nvPr/>
        </p:nvSpPr>
        <p:spPr>
          <a:xfrm>
            <a:off x="6535500" y="561825"/>
            <a:ext cx="1779192" cy="1136052"/>
          </a:xfrm>
          <a:prstGeom prst="cloud">
            <a:avLst/>
          </a:prstGeom>
          <a:solidFill>
            <a:srgbClr val="E7F5F9"/>
          </a:solidFill>
          <a:ln cap="flat" cmpd="sng" w="1905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WHO</a:t>
            </a:r>
            <a:endParaRPr b="0" i="0" sz="2200" u="none" cap="none" strike="noStrike">
              <a:solidFill>
                <a:srgbClr val="000000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98" name="Google Shape;198;g3aeb9fe1cb9_0_554"/>
          <p:cNvSpPr txBox="1"/>
          <p:nvPr/>
        </p:nvSpPr>
        <p:spPr>
          <a:xfrm>
            <a:off x="767450" y="2651375"/>
            <a:ext cx="52113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endParaRPr b="1" i="0" sz="1600" u="none" cap="none" strike="noStrike">
              <a:solidFill>
                <a:srgbClr val="E7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• Mismatched audience design leads to weak retention</a:t>
            </a:r>
            <a:endParaRPr b="0" i="0" sz="1600" u="none" cap="none" strike="noStrike">
              <a:solidFill>
                <a:srgbClr val="E7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• Tags, titles, and descriptions misaligned with viewer intent</a:t>
            </a:r>
            <a:endParaRPr b="0" i="0" sz="1600" u="none" cap="none" strike="noStrike">
              <a:solidFill>
                <a:srgbClr val="E7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• Low engagement loops weaken visibility</a:t>
            </a:r>
            <a:endParaRPr b="0" i="0" sz="1600" u="none" cap="none" strike="noStrike">
              <a:solidFill>
                <a:srgbClr val="E7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• Storytelling misaligns with audience</a:t>
            </a:r>
            <a:endParaRPr b="0" i="0" sz="1600" u="none" cap="none" strike="noStrike">
              <a:solidFill>
                <a:srgbClr val="E7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aeb9fe1cb9_0_554" title="giph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804500" y="3063000"/>
            <a:ext cx="1510200" cy="1510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eb9fe1cb9_0_628"/>
          <p:cNvSpPr/>
          <p:nvPr/>
        </p:nvSpPr>
        <p:spPr>
          <a:xfrm>
            <a:off x="3882750" y="3622605"/>
            <a:ext cx="4277100" cy="7029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aeb9fe1cb9_0_628"/>
          <p:cNvSpPr/>
          <p:nvPr/>
        </p:nvSpPr>
        <p:spPr>
          <a:xfrm>
            <a:off x="3882750" y="2098755"/>
            <a:ext cx="4277100" cy="7029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penguin laying on a chair next to a computer (Provided by Tenor)" id="206" name="Google Shape;206;g3aeb9fe1cb9_0_6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175" y="1546925"/>
            <a:ext cx="2661300" cy="26613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</p:pic>
      <p:sp>
        <p:nvSpPr>
          <p:cNvPr id="207" name="Google Shape;207;g3aeb9fe1cb9_0_628"/>
          <p:cNvSpPr/>
          <p:nvPr/>
        </p:nvSpPr>
        <p:spPr>
          <a:xfrm>
            <a:off x="3882750" y="1336830"/>
            <a:ext cx="4277100" cy="7029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aeb9fe1cb9_0_628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How Audiences Consume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09" name="Google Shape;209;g3aeb9fe1cb9_0_628"/>
          <p:cNvSpPr txBox="1"/>
          <p:nvPr/>
        </p:nvSpPr>
        <p:spPr>
          <a:xfrm>
            <a:off x="3980250" y="1372746"/>
            <a:ext cx="408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Kids (1–6): </a:t>
            </a:r>
            <a:endParaRPr b="1" i="0" sz="18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Longform, Compilations, YouTube Kids.</a:t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aeb9fe1cb9_0_628"/>
          <p:cNvSpPr txBox="1"/>
          <p:nvPr/>
        </p:nvSpPr>
        <p:spPr>
          <a:xfrm>
            <a:off x="3992675" y="3666243"/>
            <a:ext cx="393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Adults (18–35): </a:t>
            </a:r>
            <a:endParaRPr b="1" i="0" sz="1800" u="none" cap="none" strike="noStrik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Relatable micro-humor + short-form.</a:t>
            </a:r>
            <a:endParaRPr b="1" i="0" sz="16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aeb9fe1cb9_0_628"/>
          <p:cNvSpPr txBox="1"/>
          <p:nvPr/>
        </p:nvSpPr>
        <p:spPr>
          <a:xfrm>
            <a:off x="3992675" y="2142405"/>
            <a:ext cx="308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Kids (7–13): </a:t>
            </a:r>
            <a:endParaRPr b="1" i="0" sz="1800" u="none" cap="none" strike="noStrik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Short-form, YouTube/Tik Tok Kids.</a:t>
            </a:r>
            <a:endParaRPr b="1" i="0" sz="16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aeb9fe1cb9_0_628"/>
          <p:cNvSpPr/>
          <p:nvPr/>
        </p:nvSpPr>
        <p:spPr>
          <a:xfrm>
            <a:off x="3882750" y="2860680"/>
            <a:ext cx="4277100" cy="7029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aeb9fe1cb9_0_628"/>
          <p:cNvSpPr txBox="1"/>
          <p:nvPr/>
        </p:nvSpPr>
        <p:spPr>
          <a:xfrm>
            <a:off x="3992675" y="2912055"/>
            <a:ext cx="393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Teens (13–17): </a:t>
            </a:r>
            <a:endParaRPr b="1" i="0" sz="18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Short-form, pacing matters.</a:t>
            </a:r>
            <a:endParaRPr b="1" i="0" sz="16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aeb9fe1cb9_0_628"/>
          <p:cNvSpPr txBox="1"/>
          <p:nvPr/>
        </p:nvSpPr>
        <p:spPr>
          <a:xfrm>
            <a:off x="6043650" y="4435894"/>
            <a:ext cx="2116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Sources: </a:t>
            </a:r>
            <a:r>
              <a:rPr b="0" i="0" lang="en-US" sz="1000" u="sng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Audience Viewing</a:t>
            </a:r>
            <a:r>
              <a:rPr b="0" i="0" lang="en-US" sz="10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000" u="none" cap="none" strike="noStrike">
              <a:solidFill>
                <a:srgbClr val="E7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b9fe1cb9_0_623"/>
          <p:cNvSpPr txBox="1"/>
          <p:nvPr/>
        </p:nvSpPr>
        <p:spPr>
          <a:xfrm>
            <a:off x="1225075" y="1480925"/>
            <a:ext cx="65637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Short-form is universal; </a:t>
            </a:r>
            <a:endParaRPr b="1" i="0" sz="41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design for it from the start, not as an afterthought.</a:t>
            </a:r>
            <a:endParaRPr b="1" i="0" sz="44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pic>
        <p:nvPicPr>
          <p:cNvPr id="220" name="Google Shape;220;g3aeb9fe1cb9_0_623" title="giphy (1)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275" y="3070625"/>
            <a:ext cx="1590000" cy="159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b9fe1cb9_0_641"/>
          <p:cNvSpPr/>
          <p:nvPr/>
        </p:nvSpPr>
        <p:spPr>
          <a:xfrm>
            <a:off x="795900" y="1444125"/>
            <a:ext cx="5939100" cy="8658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aeb9fe1cb9_0_641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Result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27" name="Google Shape;227;g3aeb9fe1cb9_0_641"/>
          <p:cNvSpPr txBox="1"/>
          <p:nvPr/>
        </p:nvSpPr>
        <p:spPr>
          <a:xfrm>
            <a:off x="1611600" y="1507575"/>
            <a:ext cx="503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07AF3"/>
                </a:solidFill>
                <a:latin typeface="Arial"/>
                <a:ea typeface="Arial"/>
                <a:cs typeface="Arial"/>
                <a:sym typeface="Arial"/>
              </a:rPr>
              <a:t>More cost-efficient: one longform budget can produce several short-form pieces</a:t>
            </a:r>
            <a:endParaRPr b="0" i="0" sz="1400" u="none" cap="none" strike="noStrike">
              <a:solidFill>
                <a:srgbClr val="307A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aeb9fe1cb9_0_641"/>
          <p:cNvSpPr/>
          <p:nvPr/>
        </p:nvSpPr>
        <p:spPr>
          <a:xfrm>
            <a:off x="1525625" y="2388925"/>
            <a:ext cx="5939100" cy="8658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aeb9fe1cb9_0_641"/>
          <p:cNvSpPr txBox="1"/>
          <p:nvPr/>
        </p:nvSpPr>
        <p:spPr>
          <a:xfrm>
            <a:off x="2395050" y="2452375"/>
            <a:ext cx="497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7DF6"/>
                </a:solidFill>
                <a:latin typeface="Arial"/>
                <a:ea typeface="Arial"/>
                <a:cs typeface="Arial"/>
                <a:sym typeface="Arial"/>
              </a:rPr>
              <a:t>Easier iteration; feedback can be applied quickly using engagement metrics</a:t>
            </a:r>
            <a:endParaRPr b="0" i="0" sz="14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aeb9fe1cb9_0_641"/>
          <p:cNvSpPr/>
          <p:nvPr/>
        </p:nvSpPr>
        <p:spPr>
          <a:xfrm>
            <a:off x="2409000" y="3333725"/>
            <a:ext cx="5939100" cy="8658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aeb9fe1cb9_0_641"/>
          <p:cNvSpPr txBox="1"/>
          <p:nvPr/>
        </p:nvSpPr>
        <p:spPr>
          <a:xfrm>
            <a:off x="3278550" y="3397175"/>
            <a:ext cx="497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7DF6"/>
                </a:solidFill>
                <a:latin typeface="Arial"/>
                <a:ea typeface="Arial"/>
                <a:cs typeface="Arial"/>
                <a:sym typeface="Arial"/>
              </a:rPr>
              <a:t>Short-form-first creation supports Tik Tok ↔ YouTube funneling</a:t>
            </a:r>
            <a:endParaRPr b="0" i="0" sz="18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aeb9fe1cb9_0_641"/>
          <p:cNvSpPr txBox="1"/>
          <p:nvPr/>
        </p:nvSpPr>
        <p:spPr>
          <a:xfrm>
            <a:off x="866075" y="1561575"/>
            <a:ext cx="584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33" name="Google Shape;233;g3aeb9fe1cb9_0_641"/>
          <p:cNvSpPr txBox="1"/>
          <p:nvPr/>
        </p:nvSpPr>
        <p:spPr>
          <a:xfrm>
            <a:off x="1648350" y="2479375"/>
            <a:ext cx="7467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34" name="Google Shape;234;g3aeb9fe1cb9_0_641"/>
          <p:cNvSpPr txBox="1"/>
          <p:nvPr/>
        </p:nvSpPr>
        <p:spPr>
          <a:xfrm>
            <a:off x="2539425" y="3451175"/>
            <a:ext cx="7467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b9fe1cb9_0_562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E7F5F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Problem 2: Discoverability</a:t>
            </a:r>
            <a:endParaRPr b="1" i="0" sz="5800" u="none" cap="none" strike="noStrike">
              <a:solidFill>
                <a:srgbClr val="E7F5F9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40" name="Google Shape;240;g3aeb9fe1cb9_0_562"/>
          <p:cNvSpPr txBox="1"/>
          <p:nvPr/>
        </p:nvSpPr>
        <p:spPr>
          <a:xfrm>
            <a:off x="666900" y="1497075"/>
            <a:ext cx="5389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• Misaligned tags &amp; metadata confuse algorithms</a:t>
            </a:r>
            <a:endParaRPr b="0" i="0" sz="1600" u="none" cap="none" strike="noStrike">
              <a:solidFill>
                <a:srgbClr val="E7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7F5F9"/>
                </a:solidFill>
                <a:latin typeface="Calibri"/>
                <a:ea typeface="Calibri"/>
                <a:cs typeface="Calibri"/>
                <a:sym typeface="Calibri"/>
              </a:rPr>
              <a:t>• No clear funnels guiding viewers to core content</a:t>
            </a:r>
            <a:endParaRPr b="0" i="0" sz="1600" u="none" cap="none" strike="noStrike">
              <a:solidFill>
                <a:srgbClr val="E7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aeb9fe1cb9_0_562"/>
          <p:cNvSpPr/>
          <p:nvPr/>
        </p:nvSpPr>
        <p:spPr>
          <a:xfrm>
            <a:off x="693150" y="3302700"/>
            <a:ext cx="7757700" cy="959100"/>
          </a:xfrm>
          <a:prstGeom prst="roundRect">
            <a:avLst>
              <a:gd fmla="val 16667" name="adj"/>
            </a:avLst>
          </a:prstGeom>
          <a:solidFill>
            <a:srgbClr val="E7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Brand recognition outside crypto is limited; new content funnels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are needed to drive broader audiences to the channel.</a:t>
            </a:r>
            <a:endParaRPr b="0" i="0" sz="2400" u="none" cap="none" strike="noStrike">
              <a:solidFill>
                <a:schemeClr val="dk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pic>
        <p:nvPicPr>
          <p:cNvPr id="242" name="Google Shape;242;g3aeb9fe1cb9_0_562" title="giphy (2)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744550" y="693675"/>
            <a:ext cx="1612800" cy="161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b9fe1cb9_0_800"/>
          <p:cNvSpPr txBox="1"/>
          <p:nvPr/>
        </p:nvSpPr>
        <p:spPr>
          <a:xfrm>
            <a:off x="595175" y="1334100"/>
            <a:ext cx="51351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Strategic growth requires placing Lil Pudgys directly </a:t>
            </a:r>
            <a:br>
              <a:rPr b="1" i="0" lang="en-US" sz="37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</a:br>
            <a:r>
              <a:rPr b="1" i="0" lang="en-US" sz="37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in the audience’s attention stream. </a:t>
            </a:r>
            <a:endParaRPr b="1" i="0" sz="40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pic>
        <p:nvPicPr>
          <p:cNvPr id="248" name="Google Shape;248;g3aeb9fe1cb9_0_800" title="1b70b9ae-9028-42f1-8daf-879ff67fb2ca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0875" y="1346700"/>
            <a:ext cx="2345100" cy="234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eb9fe1cb9_0_1343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E7F5F9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Problem 3: Engagement</a:t>
            </a:r>
            <a:endParaRPr b="1" i="0" sz="5800" u="none" cap="none" strike="noStrike">
              <a:solidFill>
                <a:srgbClr val="E7F5F9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54" name="Google Shape;254;g3aeb9fe1cb9_0_1343"/>
          <p:cNvSpPr txBox="1"/>
          <p:nvPr/>
        </p:nvSpPr>
        <p:spPr>
          <a:xfrm>
            <a:off x="666900" y="2180725"/>
            <a:ext cx="4157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3FBFF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Brand currently sees </a:t>
            </a:r>
            <a:r>
              <a:rPr b="1" i="0" lang="en-US" sz="16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low interaction</a:t>
            </a:r>
            <a:r>
              <a:rPr b="0" i="0" lang="en-US" sz="16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16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(comments, shares, likes) relative to output &amp; quality</a:t>
            </a:r>
            <a:endParaRPr b="0" i="0" sz="16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g3aeb9fe1cb9_0_1343" title="6e860b4fb0a78fd92d84859ec0fc54e9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00" y="1497075"/>
            <a:ext cx="2359500" cy="2359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eb9fe1cb9_0_1332"/>
          <p:cNvSpPr txBox="1"/>
          <p:nvPr/>
        </p:nvSpPr>
        <p:spPr>
          <a:xfrm>
            <a:off x="595175" y="1595250"/>
            <a:ext cx="5135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Formula is the same</a:t>
            </a:r>
            <a:endParaRPr b="1" i="0" sz="40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61" name="Google Shape;261;g3aeb9fe1cb9_0_1332"/>
          <p:cNvSpPr txBox="1"/>
          <p:nvPr/>
        </p:nvSpPr>
        <p:spPr>
          <a:xfrm>
            <a:off x="673925" y="2852150"/>
            <a:ext cx="497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These boost video metrics fueling the algorithm</a:t>
            </a:r>
            <a:endParaRPr b="0" i="0" sz="20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62" name="Google Shape;262;g3aeb9fe1cb9_0_1332"/>
          <p:cNvSpPr txBox="1"/>
          <p:nvPr/>
        </p:nvSpPr>
        <p:spPr>
          <a:xfrm>
            <a:off x="668075" y="2451950"/>
            <a:ext cx="477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Just Like X: Consistency, CTA’s and Intern</a:t>
            </a:r>
            <a:endParaRPr b="1" i="0" sz="35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pic>
        <p:nvPicPr>
          <p:cNvPr id="263" name="Google Shape;263;g3aeb9fe1cb9_0_1332" title="77e5fa6c8328957734747e6efb2ebf19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1875" y="1129175"/>
            <a:ext cx="2799300" cy="279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g3aeb9fe1cb9_0_845"/>
          <p:cNvGrpSpPr/>
          <p:nvPr/>
        </p:nvGrpSpPr>
        <p:grpSpPr>
          <a:xfrm rot="-5400000">
            <a:off x="3258879" y="1406345"/>
            <a:ext cx="2617952" cy="2617952"/>
            <a:chOff x="2820225" y="891450"/>
            <a:chExt cx="3175200" cy="3175200"/>
          </a:xfrm>
        </p:grpSpPr>
        <p:sp>
          <p:nvSpPr>
            <p:cNvPr id="269" name="Google Shape;269;g3aeb9fe1cb9_0_845"/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fmla="val 5399801" name="adj1"/>
                <a:gd fmla="val 3012680" name="adj2"/>
                <a:gd fmla="val 6939" name="adj3"/>
              </a:avLst>
            </a:prstGeom>
            <a:solidFill>
              <a:srgbClr val="E7F5F9"/>
            </a:solidFill>
            <a:ln>
              <a:noFill/>
            </a:ln>
          </p:spPr>
          <p:txBody>
            <a:bodyPr anchorCtr="0" anchor="ctr" bIns="75375" lIns="75375" spcFirstLastPara="1" rIns="75375" wrap="square" tIns="7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aeb9fe1cb9_0_845"/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E7F5F9"/>
            </a:solidFill>
            <a:ln>
              <a:noFill/>
            </a:ln>
          </p:spPr>
          <p:txBody>
            <a:bodyPr anchorCtr="0" anchor="ctr" bIns="75375" lIns="75375" spcFirstLastPara="1" rIns="75375" wrap="square" tIns="75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g3aeb9fe1cb9_0_845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Content Pipeline Framework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72" name="Google Shape;272;g3aeb9fe1cb9_0_845"/>
          <p:cNvSpPr txBox="1"/>
          <p:nvPr/>
        </p:nvSpPr>
        <p:spPr>
          <a:xfrm>
            <a:off x="3425925" y="2270100"/>
            <a:ext cx="22812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How content should be produced</a:t>
            </a:r>
            <a:endParaRPr b="0" i="0" sz="26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73" name="Google Shape;273;g3aeb9fe1cb9_0_845"/>
          <p:cNvSpPr/>
          <p:nvPr/>
        </p:nvSpPr>
        <p:spPr>
          <a:xfrm>
            <a:off x="1874550" y="1322025"/>
            <a:ext cx="1846500" cy="9480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477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aeb9fe1cb9_0_845"/>
          <p:cNvSpPr txBox="1"/>
          <p:nvPr/>
        </p:nvSpPr>
        <p:spPr>
          <a:xfrm>
            <a:off x="1960650" y="1406325"/>
            <a:ext cx="169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01 - Optimize</a:t>
            </a:r>
            <a:endParaRPr b="1" i="0" sz="40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75" name="Google Shape;275;g3aeb9fe1cb9_0_845"/>
          <p:cNvSpPr txBox="1"/>
          <p:nvPr/>
        </p:nvSpPr>
        <p:spPr>
          <a:xfrm>
            <a:off x="1958550" y="1659375"/>
            <a:ext cx="15015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None/>
            </a:pPr>
            <a:r>
              <a:rPr b="1" i="0" lang="en-US" sz="905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Adjust new videos  pacing &amp; script based off metrics</a:t>
            </a:r>
            <a:endParaRPr b="1" i="0" sz="905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g3aeb9fe1cb9_0_845"/>
          <p:cNvGrpSpPr/>
          <p:nvPr/>
        </p:nvGrpSpPr>
        <p:grpSpPr>
          <a:xfrm>
            <a:off x="5409250" y="1192725"/>
            <a:ext cx="1846500" cy="948000"/>
            <a:chOff x="5099875" y="1322025"/>
            <a:chExt cx="1846500" cy="948000"/>
          </a:xfrm>
        </p:grpSpPr>
        <p:sp>
          <p:nvSpPr>
            <p:cNvPr id="277" name="Google Shape;277;g3aeb9fe1cb9_0_845"/>
            <p:cNvSpPr/>
            <p:nvPr/>
          </p:nvSpPr>
          <p:spPr>
            <a:xfrm>
              <a:off x="5099875" y="1322025"/>
              <a:ext cx="1846500" cy="948000"/>
            </a:xfrm>
            <a:prstGeom prst="roundRect">
              <a:avLst>
                <a:gd fmla="val 16667" name="adj"/>
              </a:avLst>
            </a:prstGeom>
            <a:solidFill>
              <a:srgbClr val="F3FBFF"/>
            </a:solidFill>
            <a:ln cap="flat" cmpd="sng" w="9525">
              <a:solidFill>
                <a:srgbClr val="477D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aeb9fe1cb9_0_845"/>
            <p:cNvSpPr txBox="1"/>
            <p:nvPr/>
          </p:nvSpPr>
          <p:spPr>
            <a:xfrm>
              <a:off x="5185975" y="1406325"/>
              <a:ext cx="1691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477DF6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02 - Ideate</a:t>
              </a:r>
              <a:endParaRPr b="1" i="0" sz="40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9" name="Google Shape;279;g3aeb9fe1cb9_0_845"/>
            <p:cNvSpPr txBox="1"/>
            <p:nvPr/>
          </p:nvSpPr>
          <p:spPr>
            <a:xfrm>
              <a:off x="5183875" y="1659375"/>
              <a:ext cx="15015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5"/>
                <a:buFont typeface="Arial"/>
                <a:buNone/>
              </a:pPr>
              <a:r>
                <a:rPr b="1" i="0" lang="en-US" sz="905" u="none" cap="none" strike="noStrike">
                  <a:solidFill>
                    <a:srgbClr val="477DF6"/>
                  </a:solidFill>
                  <a:latin typeface="Calibri"/>
                  <a:ea typeface="Calibri"/>
                  <a:cs typeface="Calibri"/>
                  <a:sym typeface="Calibri"/>
                </a:rPr>
                <a:t>Create script with specific goals in mind</a:t>
              </a:r>
              <a:endParaRPr b="1" i="0" sz="905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g3aeb9fe1cb9_0_845"/>
          <p:cNvGrpSpPr/>
          <p:nvPr/>
        </p:nvGrpSpPr>
        <p:grpSpPr>
          <a:xfrm>
            <a:off x="5656700" y="2487150"/>
            <a:ext cx="1846500" cy="948000"/>
            <a:chOff x="5602650" y="2675575"/>
            <a:chExt cx="1846500" cy="948000"/>
          </a:xfrm>
        </p:grpSpPr>
        <p:sp>
          <p:nvSpPr>
            <p:cNvPr id="281" name="Google Shape;281;g3aeb9fe1cb9_0_845"/>
            <p:cNvSpPr/>
            <p:nvPr/>
          </p:nvSpPr>
          <p:spPr>
            <a:xfrm>
              <a:off x="5602650" y="2675575"/>
              <a:ext cx="1846500" cy="948000"/>
            </a:xfrm>
            <a:prstGeom prst="roundRect">
              <a:avLst>
                <a:gd fmla="val 16667" name="adj"/>
              </a:avLst>
            </a:prstGeom>
            <a:solidFill>
              <a:srgbClr val="F3FBFF"/>
            </a:solidFill>
            <a:ln cap="flat" cmpd="sng" w="9525">
              <a:solidFill>
                <a:srgbClr val="477D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aeb9fe1cb9_0_845"/>
            <p:cNvSpPr txBox="1"/>
            <p:nvPr/>
          </p:nvSpPr>
          <p:spPr>
            <a:xfrm>
              <a:off x="5688750" y="2759875"/>
              <a:ext cx="1691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477DF6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03 - Produce</a:t>
              </a:r>
              <a:endParaRPr b="1" i="0" sz="40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3" name="Google Shape;283;g3aeb9fe1cb9_0_845"/>
            <p:cNvSpPr txBox="1"/>
            <p:nvPr/>
          </p:nvSpPr>
          <p:spPr>
            <a:xfrm>
              <a:off x="5686650" y="3012925"/>
              <a:ext cx="15015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5"/>
                <a:buFont typeface="Arial"/>
                <a:buNone/>
              </a:pPr>
              <a:r>
                <a:rPr b="1" i="0" lang="en-US" sz="905" u="none" cap="none" strike="noStrike">
                  <a:solidFill>
                    <a:srgbClr val="477DF6"/>
                  </a:solidFill>
                  <a:latin typeface="Calibri"/>
                  <a:ea typeface="Calibri"/>
                  <a:cs typeface="Calibri"/>
                  <a:sym typeface="Calibri"/>
                </a:rPr>
                <a:t>Animate, Edit videos with Platforms in mind</a:t>
              </a:r>
              <a:endParaRPr b="1" i="0" sz="905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g3aeb9fe1cb9_0_845"/>
          <p:cNvGrpSpPr/>
          <p:nvPr/>
        </p:nvGrpSpPr>
        <p:grpSpPr>
          <a:xfrm>
            <a:off x="4171750" y="3781600"/>
            <a:ext cx="1846500" cy="948000"/>
            <a:chOff x="4171750" y="3781600"/>
            <a:chExt cx="1846500" cy="948000"/>
          </a:xfrm>
        </p:grpSpPr>
        <p:sp>
          <p:nvSpPr>
            <p:cNvPr id="285" name="Google Shape;285;g3aeb9fe1cb9_0_845"/>
            <p:cNvSpPr/>
            <p:nvPr/>
          </p:nvSpPr>
          <p:spPr>
            <a:xfrm>
              <a:off x="4171750" y="3781600"/>
              <a:ext cx="1846500" cy="948000"/>
            </a:xfrm>
            <a:prstGeom prst="roundRect">
              <a:avLst>
                <a:gd fmla="val 16667" name="adj"/>
              </a:avLst>
            </a:prstGeom>
            <a:solidFill>
              <a:srgbClr val="F3FBFF"/>
            </a:solidFill>
            <a:ln cap="flat" cmpd="sng" w="9525">
              <a:solidFill>
                <a:srgbClr val="477D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aeb9fe1cb9_0_845"/>
            <p:cNvSpPr txBox="1"/>
            <p:nvPr/>
          </p:nvSpPr>
          <p:spPr>
            <a:xfrm>
              <a:off x="4257850" y="3865900"/>
              <a:ext cx="1691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477DF6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04 - Analyze</a:t>
              </a:r>
              <a:endParaRPr b="1" i="0" sz="40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" name="Google Shape;287;g3aeb9fe1cb9_0_845"/>
            <p:cNvSpPr txBox="1"/>
            <p:nvPr/>
          </p:nvSpPr>
          <p:spPr>
            <a:xfrm>
              <a:off x="4255750" y="4118950"/>
              <a:ext cx="1501500" cy="4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5"/>
                <a:buFont typeface="Arial"/>
                <a:buNone/>
              </a:pPr>
              <a:r>
                <a:rPr b="1" i="0" lang="en-US" sz="905" u="none" cap="none" strike="noStrike">
                  <a:solidFill>
                    <a:srgbClr val="477DF6"/>
                  </a:solidFill>
                  <a:latin typeface="Calibri"/>
                  <a:ea typeface="Calibri"/>
                  <a:cs typeface="Calibri"/>
                  <a:sym typeface="Calibri"/>
                </a:rPr>
                <a:t>Review video engagement &amp; retention metrics</a:t>
              </a:r>
              <a:endParaRPr b="1" i="0" sz="905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g3aeb9fe1cb9_0_845"/>
          <p:cNvGrpSpPr/>
          <p:nvPr/>
        </p:nvGrpSpPr>
        <p:grpSpPr>
          <a:xfrm>
            <a:off x="1649150" y="2811882"/>
            <a:ext cx="1849150" cy="1032656"/>
            <a:chOff x="3862350" y="3724797"/>
            <a:chExt cx="1849150" cy="948000"/>
          </a:xfrm>
        </p:grpSpPr>
        <p:sp>
          <p:nvSpPr>
            <p:cNvPr id="289" name="Google Shape;289;g3aeb9fe1cb9_0_845"/>
            <p:cNvSpPr/>
            <p:nvPr/>
          </p:nvSpPr>
          <p:spPr>
            <a:xfrm>
              <a:off x="3862350" y="3724797"/>
              <a:ext cx="1846500" cy="948000"/>
            </a:xfrm>
            <a:prstGeom prst="roundRect">
              <a:avLst>
                <a:gd fmla="val 16667" name="adj"/>
              </a:avLst>
            </a:prstGeom>
            <a:solidFill>
              <a:srgbClr val="F3FBFF"/>
            </a:solidFill>
            <a:ln cap="flat" cmpd="sng" w="9525">
              <a:solidFill>
                <a:srgbClr val="477D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aeb9fe1cb9_0_845"/>
            <p:cNvSpPr txBox="1"/>
            <p:nvPr/>
          </p:nvSpPr>
          <p:spPr>
            <a:xfrm>
              <a:off x="3981550" y="3794042"/>
              <a:ext cx="16917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477DF6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05 - Publish</a:t>
              </a:r>
              <a:endParaRPr b="1" i="0" sz="40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1" name="Google Shape;291;g3aeb9fe1cb9_0_845"/>
            <p:cNvSpPr txBox="1"/>
            <p:nvPr/>
          </p:nvSpPr>
          <p:spPr>
            <a:xfrm>
              <a:off x="3943300" y="4047597"/>
              <a:ext cx="1768200" cy="5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5"/>
                <a:buFont typeface="Arial"/>
                <a:buNone/>
              </a:pPr>
              <a:r>
                <a:rPr b="1" i="0" lang="en-US" sz="905" u="none" cap="none" strike="noStrike">
                  <a:solidFill>
                    <a:srgbClr val="477DF6"/>
                  </a:solidFill>
                  <a:latin typeface="Calibri"/>
                  <a:ea typeface="Calibri"/>
                  <a:cs typeface="Calibri"/>
                  <a:sym typeface="Calibri"/>
                </a:rPr>
                <a:t>Upload videos utilizing platform specific best practices &amp; feedback</a:t>
              </a:r>
              <a:endParaRPr b="1" i="0" sz="905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eb9fe1cb9_0_903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Expected Outcomes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297" name="Google Shape;297;g3aeb9fe1cb9_0_903"/>
          <p:cNvSpPr/>
          <p:nvPr/>
        </p:nvSpPr>
        <p:spPr>
          <a:xfrm>
            <a:off x="646725" y="1369025"/>
            <a:ext cx="1846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aeb9fe1cb9_0_903"/>
          <p:cNvSpPr/>
          <p:nvPr/>
        </p:nvSpPr>
        <p:spPr>
          <a:xfrm>
            <a:off x="2594515" y="1369025"/>
            <a:ext cx="1846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aeb9fe1cb9_0_903"/>
          <p:cNvSpPr/>
          <p:nvPr/>
        </p:nvSpPr>
        <p:spPr>
          <a:xfrm>
            <a:off x="4542305" y="1369025"/>
            <a:ext cx="1846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aeb9fe1cb9_0_903"/>
          <p:cNvSpPr/>
          <p:nvPr/>
        </p:nvSpPr>
        <p:spPr>
          <a:xfrm>
            <a:off x="6490080" y="1369025"/>
            <a:ext cx="1846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aeb9fe1cb9_0_903"/>
          <p:cNvSpPr txBox="1"/>
          <p:nvPr/>
        </p:nvSpPr>
        <p:spPr>
          <a:xfrm>
            <a:off x="758000" y="2313875"/>
            <a:ext cx="1593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Higher early traction on new uploads. </a:t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aeb9fe1cb9_0_903"/>
          <p:cNvSpPr txBox="1"/>
          <p:nvPr/>
        </p:nvSpPr>
        <p:spPr>
          <a:xfrm>
            <a:off x="813825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03" name="Google Shape;303;g3aeb9fe1cb9_0_903"/>
          <p:cNvSpPr txBox="1"/>
          <p:nvPr/>
        </p:nvSpPr>
        <p:spPr>
          <a:xfrm>
            <a:off x="2704009" y="2313875"/>
            <a:ext cx="1593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Improved retention and CTR.</a:t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aeb9fe1cb9_0_903"/>
          <p:cNvSpPr txBox="1"/>
          <p:nvPr/>
        </p:nvSpPr>
        <p:spPr>
          <a:xfrm>
            <a:off x="2759834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05" name="Google Shape;305;g3aeb9fe1cb9_0_903"/>
          <p:cNvSpPr txBox="1"/>
          <p:nvPr/>
        </p:nvSpPr>
        <p:spPr>
          <a:xfrm>
            <a:off x="4684259" y="2313875"/>
            <a:ext cx="1593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Clear algorithmic placement &amp; audience recognition.</a:t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aeb9fe1cb9_0_903"/>
          <p:cNvSpPr txBox="1"/>
          <p:nvPr/>
        </p:nvSpPr>
        <p:spPr>
          <a:xfrm>
            <a:off x="4740084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07" name="Google Shape;307;g3aeb9fe1cb9_0_903"/>
          <p:cNvSpPr txBox="1"/>
          <p:nvPr/>
        </p:nvSpPr>
        <p:spPr>
          <a:xfrm>
            <a:off x="6633809" y="2313875"/>
            <a:ext cx="1593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77DF6"/>
                </a:solidFill>
                <a:latin typeface="Calibri"/>
                <a:ea typeface="Calibri"/>
                <a:cs typeface="Calibri"/>
                <a:sym typeface="Calibri"/>
              </a:rPr>
              <a:t>A sustainable growth engine built on iteration.</a:t>
            </a:r>
            <a:endParaRPr b="1" i="0" sz="1600" u="none" cap="none" strike="noStrike">
              <a:solidFill>
                <a:srgbClr val="477DF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477D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aeb9fe1cb9_0_903"/>
          <p:cNvSpPr txBox="1"/>
          <p:nvPr/>
        </p:nvSpPr>
        <p:spPr>
          <a:xfrm>
            <a:off x="6689634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477DF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04</a:t>
            </a:r>
            <a:endParaRPr b="1" i="0" sz="5800" u="none" cap="none" strike="noStrike">
              <a:solidFill>
                <a:srgbClr val="477DF6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eb9fe1cb9_0_691"/>
          <p:cNvSpPr txBox="1"/>
          <p:nvPr/>
        </p:nvSpPr>
        <p:spPr>
          <a:xfrm>
            <a:off x="705550" y="817050"/>
            <a:ext cx="64644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Execution Framework</a:t>
            </a:r>
            <a:endParaRPr b="1" i="0" sz="29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pic>
        <p:nvPicPr>
          <p:cNvPr id="314" name="Google Shape;314;g3aeb9fe1cb9_0_691" title="62e1e31f23da7541b3cf5d4b_drawing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3125" y="1051900"/>
            <a:ext cx="3039900" cy="303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eb9fe1cb9_0_699"/>
          <p:cNvSpPr/>
          <p:nvPr/>
        </p:nvSpPr>
        <p:spPr>
          <a:xfrm>
            <a:off x="64672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81A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aeb9fe1cb9_0_699"/>
          <p:cNvSpPr/>
          <p:nvPr/>
        </p:nvSpPr>
        <p:spPr>
          <a:xfrm>
            <a:off x="3309750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81A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aeb9fe1cb9_0_699"/>
          <p:cNvSpPr/>
          <p:nvPr/>
        </p:nvSpPr>
        <p:spPr>
          <a:xfrm>
            <a:off x="597277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81A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aeb9fe1cb9_0_699"/>
          <p:cNvSpPr txBox="1"/>
          <p:nvPr/>
        </p:nvSpPr>
        <p:spPr>
          <a:xfrm>
            <a:off x="813825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23" name="Google Shape;323;g3aeb9fe1cb9_0_699"/>
          <p:cNvSpPr txBox="1"/>
          <p:nvPr/>
        </p:nvSpPr>
        <p:spPr>
          <a:xfrm>
            <a:off x="348225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24" name="Google Shape;324;g3aeb9fe1cb9_0_699"/>
          <p:cNvSpPr txBox="1"/>
          <p:nvPr/>
        </p:nvSpPr>
        <p:spPr>
          <a:xfrm>
            <a:off x="612760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25" name="Google Shape;325;g3aeb9fe1cb9_0_699"/>
          <p:cNvSpPr txBox="1"/>
          <p:nvPr/>
        </p:nvSpPr>
        <p:spPr>
          <a:xfrm>
            <a:off x="758000" y="2313875"/>
            <a:ext cx="2258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Identify primary Target Audience  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aeb9fe1cb9_0_699"/>
          <p:cNvSpPr txBox="1"/>
          <p:nvPr/>
        </p:nvSpPr>
        <p:spPr>
          <a:xfrm>
            <a:off x="3442800" y="2313887"/>
            <a:ext cx="225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Define the primary Goal of the channel (brand awareness, merch sales, game adoption)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aeb9fe1cb9_0_699"/>
          <p:cNvSpPr txBox="1"/>
          <p:nvPr/>
        </p:nvSpPr>
        <p:spPr>
          <a:xfrm>
            <a:off x="6127600" y="2313887"/>
            <a:ext cx="225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Once defined, Ensure all creative &amp; distribution decisions align with this north star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aeb9fe1cb9_0_699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Define Target Audience &amp; Goals</a:t>
            </a:r>
            <a:endParaRPr b="1" i="0" sz="58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17c2d3163_1_948"/>
          <p:cNvSpPr/>
          <p:nvPr/>
        </p:nvSpPr>
        <p:spPr>
          <a:xfrm>
            <a:off x="64672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81A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917c2d3163_1_948"/>
          <p:cNvSpPr/>
          <p:nvPr/>
        </p:nvSpPr>
        <p:spPr>
          <a:xfrm>
            <a:off x="3309750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81A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917c2d3163_1_948"/>
          <p:cNvSpPr/>
          <p:nvPr/>
        </p:nvSpPr>
        <p:spPr>
          <a:xfrm>
            <a:off x="597277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F3FBFF"/>
          </a:solidFill>
          <a:ln cap="flat" cmpd="sng" w="9525">
            <a:solidFill>
              <a:srgbClr val="81A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917c2d3163_1_948"/>
          <p:cNvSpPr txBox="1"/>
          <p:nvPr/>
        </p:nvSpPr>
        <p:spPr>
          <a:xfrm>
            <a:off x="813825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37" name="Google Shape;337;g3917c2d3163_1_948"/>
          <p:cNvSpPr txBox="1"/>
          <p:nvPr/>
        </p:nvSpPr>
        <p:spPr>
          <a:xfrm>
            <a:off x="348225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38" name="Google Shape;338;g3917c2d3163_1_948"/>
          <p:cNvSpPr txBox="1"/>
          <p:nvPr/>
        </p:nvSpPr>
        <p:spPr>
          <a:xfrm>
            <a:off x="612760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39" name="Google Shape;339;g3917c2d3163_1_948"/>
          <p:cNvSpPr txBox="1"/>
          <p:nvPr/>
        </p:nvSpPr>
        <p:spPr>
          <a:xfrm>
            <a:off x="758000" y="2313875"/>
            <a:ext cx="2258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Use high-signal Tags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e.g #cartoons #animation  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917c2d3163_1_948"/>
          <p:cNvSpPr txBox="1"/>
          <p:nvPr/>
        </p:nvSpPr>
        <p:spPr>
          <a:xfrm>
            <a:off x="3442800" y="2313887"/>
            <a:ext cx="2258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Rewrite titles / descriptions to target demographic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917c2d3163_1_948"/>
          <p:cNvSpPr txBox="1"/>
          <p:nvPr/>
        </p:nvSpPr>
        <p:spPr>
          <a:xfrm>
            <a:off x="6127600" y="2313887"/>
            <a:ext cx="2258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1ABFF"/>
                </a:solidFill>
                <a:latin typeface="Calibri"/>
                <a:ea typeface="Calibri"/>
                <a:cs typeface="Calibri"/>
                <a:sym typeface="Calibri"/>
              </a:rPr>
              <a:t>Re-enable Shorts -&gt; Longform linking</a:t>
            </a:r>
            <a:endParaRPr b="1" i="0" sz="1700" u="none" cap="none" strike="noStrike">
              <a:solidFill>
                <a:srgbClr val="81A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917c2d3163_1_948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Discoverability Improvements</a:t>
            </a:r>
            <a:endParaRPr b="1" i="0" sz="58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eb9fe1cb9_0_785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Paid Growth Plan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48" name="Google Shape;348;g3aeb9fe1cb9_0_785"/>
          <p:cNvSpPr/>
          <p:nvPr/>
        </p:nvSpPr>
        <p:spPr>
          <a:xfrm>
            <a:off x="64672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aeb9fe1cb9_0_785"/>
          <p:cNvSpPr/>
          <p:nvPr/>
        </p:nvSpPr>
        <p:spPr>
          <a:xfrm>
            <a:off x="3309750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aeb9fe1cb9_0_785"/>
          <p:cNvSpPr/>
          <p:nvPr/>
        </p:nvSpPr>
        <p:spPr>
          <a:xfrm>
            <a:off x="597277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aeb9fe1cb9_0_785"/>
          <p:cNvSpPr txBox="1"/>
          <p:nvPr/>
        </p:nvSpPr>
        <p:spPr>
          <a:xfrm>
            <a:off x="813825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52" name="Google Shape;352;g3aeb9fe1cb9_0_785"/>
          <p:cNvSpPr txBox="1"/>
          <p:nvPr/>
        </p:nvSpPr>
        <p:spPr>
          <a:xfrm>
            <a:off x="348225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53" name="Google Shape;353;g3aeb9fe1cb9_0_785"/>
          <p:cNvSpPr txBox="1"/>
          <p:nvPr/>
        </p:nvSpPr>
        <p:spPr>
          <a:xfrm>
            <a:off x="612760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54" name="Google Shape;354;g3aeb9fe1cb9_0_785"/>
          <p:cNvSpPr txBox="1"/>
          <p:nvPr/>
        </p:nvSpPr>
        <p:spPr>
          <a:xfrm>
            <a:off x="758000" y="2313887"/>
            <a:ext cx="2258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Test $20-$30 weekly Youtube and  Tik Tok boosts</a:t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aeb9fe1cb9_0_785"/>
          <p:cNvSpPr txBox="1"/>
          <p:nvPr/>
        </p:nvSpPr>
        <p:spPr>
          <a:xfrm>
            <a:off x="3442800" y="2313887"/>
            <a:ext cx="2258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Boost high-retention Shorts</a:t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aeb9fe1cb9_0_785"/>
          <p:cNvSpPr txBox="1"/>
          <p:nvPr/>
        </p:nvSpPr>
        <p:spPr>
          <a:xfrm>
            <a:off x="6127600" y="2313887"/>
            <a:ext cx="2258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Use ads for exposure, not conversions</a:t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ed054f939_0_0"/>
          <p:cNvSpPr txBox="1"/>
          <p:nvPr/>
        </p:nvSpPr>
        <p:spPr>
          <a:xfrm>
            <a:off x="566325" y="561825"/>
            <a:ext cx="6464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81A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Refine Feedback Loop</a:t>
            </a:r>
            <a:endParaRPr b="1" i="0" sz="5800" u="none" cap="none" strike="noStrike">
              <a:solidFill>
                <a:srgbClr val="81A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62" name="Google Shape;362;g3aed054f939_0_0"/>
          <p:cNvSpPr/>
          <p:nvPr/>
        </p:nvSpPr>
        <p:spPr>
          <a:xfrm>
            <a:off x="64672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aed054f939_0_0"/>
          <p:cNvSpPr/>
          <p:nvPr/>
        </p:nvSpPr>
        <p:spPr>
          <a:xfrm>
            <a:off x="3309750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aed054f939_0_0"/>
          <p:cNvSpPr/>
          <p:nvPr/>
        </p:nvSpPr>
        <p:spPr>
          <a:xfrm>
            <a:off x="5972775" y="1369025"/>
            <a:ext cx="2524500" cy="2846400"/>
          </a:xfrm>
          <a:prstGeom prst="roundRect">
            <a:avLst>
              <a:gd fmla="val 16667" name="adj"/>
            </a:avLst>
          </a:prstGeom>
          <a:solidFill>
            <a:srgbClr val="81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aed054f939_0_0"/>
          <p:cNvSpPr txBox="1"/>
          <p:nvPr/>
        </p:nvSpPr>
        <p:spPr>
          <a:xfrm>
            <a:off x="813825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66" name="Google Shape;366;g3aed054f939_0_0"/>
          <p:cNvSpPr txBox="1"/>
          <p:nvPr/>
        </p:nvSpPr>
        <p:spPr>
          <a:xfrm>
            <a:off x="348225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67" name="Google Shape;367;g3aed054f939_0_0"/>
          <p:cNvSpPr txBox="1"/>
          <p:nvPr/>
        </p:nvSpPr>
        <p:spPr>
          <a:xfrm>
            <a:off x="6127600" y="1453325"/>
            <a:ext cx="2086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F3FB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b="1" i="0" sz="5800" u="none" cap="none" strike="noStrike">
              <a:solidFill>
                <a:srgbClr val="F3FBF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68" name="Google Shape;368;g3aed054f939_0_0"/>
          <p:cNvSpPr txBox="1"/>
          <p:nvPr/>
        </p:nvSpPr>
        <p:spPr>
          <a:xfrm>
            <a:off x="758000" y="2313887"/>
            <a:ext cx="22584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Identify system processes that changed leading to viewership decline</a:t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aed054f939_0_0"/>
          <p:cNvSpPr txBox="1"/>
          <p:nvPr/>
        </p:nvSpPr>
        <p:spPr>
          <a:xfrm>
            <a:off x="3442800" y="2313887"/>
            <a:ext cx="22584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Use audience comments, watch-time data and retention analytics to guide iterative improvements</a:t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aed054f939_0_0"/>
          <p:cNvSpPr txBox="1"/>
          <p:nvPr/>
        </p:nvSpPr>
        <p:spPr>
          <a:xfrm>
            <a:off x="6127600" y="2313887"/>
            <a:ext cx="2258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3FBFF"/>
                </a:solidFill>
                <a:latin typeface="Calibri"/>
                <a:ea typeface="Calibri"/>
                <a:cs typeface="Calibri"/>
                <a:sym typeface="Calibri"/>
              </a:rPr>
              <a:t>Adjust creative direction based off measurable learnings</a:t>
            </a:r>
            <a:endParaRPr b="1" i="0" sz="1700" u="none" cap="none" strike="noStrike">
              <a:solidFill>
                <a:srgbClr val="F3FB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eb9fe1cb9_0_716"/>
          <p:cNvSpPr txBox="1"/>
          <p:nvPr/>
        </p:nvSpPr>
        <p:spPr>
          <a:xfrm>
            <a:off x="705550" y="817050"/>
            <a:ext cx="64644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00"/>
              <a:buFont typeface="Arial"/>
              <a:buNone/>
            </a:pPr>
            <a:r>
              <a:rPr b="1" i="0" lang="en-US" sz="11300" u="none" cap="none" strike="noStrik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Thanks</a:t>
            </a:r>
            <a:endParaRPr b="1" i="0" sz="7300" u="none" cap="none" strike="noStrik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6" name="Google Shape;376;g3aeb9fe1cb9_0_716"/>
          <p:cNvSpPr txBox="1"/>
          <p:nvPr/>
        </p:nvSpPr>
        <p:spPr>
          <a:xfrm>
            <a:off x="794075" y="4195975"/>
            <a:ext cx="44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 Toto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g3aeb9fe1cb9_0_716" title="1ddf975ec3fe9324ae4e5c91cbb594b0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5675" y="1054050"/>
            <a:ext cx="3035400" cy="303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